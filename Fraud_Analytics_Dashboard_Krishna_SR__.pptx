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52" y="1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517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0D3B6E">
              <a:alpha val="60000"/>
            </a:srgbClr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fraud insights across transactions, customers, and risk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0292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943600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595360" y="42245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303520"/>
            <a:ext cx="4389120" cy="640080"/>
          </a:xfrm>
          <a:prstGeom prst="rect">
            <a:avLst/>
          </a:prstGeom>
          <a:solidFill>
            <a:srgbClr val="11225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413248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Krishna SR  |  Power BI  |  Data Analytics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608076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A3A6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609904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608076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A3A6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609904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608076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A3A6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609904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6080760"/>
            <a:ext cx="1645920" cy="365760"/>
          </a:xfrm>
          <a:prstGeom prst="roundRect">
            <a:avLst>
              <a:gd name="adj" fmla="val 25000"/>
            </a:avLst>
          </a:prstGeom>
          <a:solidFill>
            <a:srgbClr val="1A3A6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609904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5486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54864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Financial Fraud?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involves unauthorized or deceptive transactions causing monetary loss to individuals or organizations.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715768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includes credit card fraud, identity theft, account takeover, and unauthorized transfers.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767328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use phishing, identity theft, and investment scams to steal funds.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818888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is critical to minimizing losses and protecting customers.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9601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0" y="1463040"/>
            <a:ext cx="2103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463040"/>
            <a:ext cx="21031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2121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2514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fraudulent transactions using key risk indicators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1463040"/>
            <a:ext cx="2103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26680" y="1463040"/>
            <a:ext cx="21031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18120" y="2121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8120" y="2514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fraud patterns by location, time &amp; type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66960" y="1463040"/>
            <a:ext cx="2103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66960" y="1463040"/>
            <a:ext cx="21031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0" y="1600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0" y="2121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0" y="2514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complex data through intuitive Power BI dashboards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3840480"/>
            <a:ext cx="2103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3840480"/>
            <a:ext cx="21031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77840" y="44988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48920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fraud losses and protect customers effectively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26680" y="3840480"/>
            <a:ext cx="21031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26680" y="3840480"/>
            <a:ext cx="210312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818120" y="44988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18120" y="48920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data-driven decisions with actionable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1612880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FraudShield Banking Dataset  |  Source: Kaggle  |  48,635 Rows × 25 Columns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356616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64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600200"/>
            <a:ext cx="356616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664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06240" y="2194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6616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664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38160" y="2194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724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318211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8211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2552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5478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 identifier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318211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318211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0832" y="32552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70832" y="35478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identifier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318211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18211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2552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Transaction_Amount_M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02752" y="35478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in millions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00507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00507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0782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" y="43708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each transaction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400507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06240" y="400507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40782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Transaction_Type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70832" y="43708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/ Online / POS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38160" y="400507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00507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0782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Merchant_Category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02752" y="43708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Restaurant, Fuel, Grocery, etc.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82803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82803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9011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Transaction_Location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8912" y="51937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the transaction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06240" y="482803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06240" y="482803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70832" y="49011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Fraud_Label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370832" y="51937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or Fraud classification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38160" y="482803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38160" y="482803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2752" y="49011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Card_Type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02752" y="51937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or Debit card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565099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565099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57241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Previous_Fraud_Count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38912" y="60167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previous frauds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06240" y="565099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06240" y="565099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70832" y="57241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Failed_Transaction_Count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370832" y="60167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failed attempts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138160" y="5650992"/>
            <a:ext cx="3749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38160" y="5650992"/>
            <a:ext cx="73152" cy="7132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02752" y="57241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Account_Balance_M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302752" y="60167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balance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486400" cy="2377440"/>
          </a:xfrm>
          <a:prstGeom prst="rect">
            <a:avLst/>
          </a:prstGeom>
          <a:solidFill>
            <a:srgbClr val="0D2147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685800" cy="5486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Dashboard Tool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1920240"/>
            <a:ext cx="4389120" cy="36576"/>
          </a:xfrm>
          <a:prstGeom prst="rect">
            <a:avLst/>
          </a:prstGeom>
          <a:solidFill>
            <a:srgbClr val="F2C811">
              <a:alpha val="40000"/>
            </a:srgbClr>
          </a:solidFill>
          <a:ln w="12700">
            <a:solidFill>
              <a:srgbClr val="F2C811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0574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all 8 interactive pages with visuals, slicers, and navigation buttons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5486400" cy="2377440"/>
          </a:xfrm>
          <a:prstGeom prst="rect">
            <a:avLst/>
          </a:prstGeom>
          <a:solidFill>
            <a:srgbClr val="0D2147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51560"/>
            <a:ext cx="685800" cy="5486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5156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143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(Data Analysis Expressions)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Language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920240"/>
            <a:ext cx="4389120" cy="36576"/>
          </a:xfrm>
          <a:prstGeom prst="rect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574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10+ measures: Fraud Rate %, Total Fraud Cases, High Risk Transactions, and more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5486400" cy="2377440"/>
          </a:xfrm>
          <a:prstGeom prst="rect">
            <a:avLst/>
          </a:prstGeom>
          <a:solidFill>
            <a:srgbClr val="0D214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57600"/>
            <a:ext cx="6858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57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88720" y="4526280"/>
            <a:ext cx="4389120" cy="36576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6634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raw CSV — removed duplicates, fixed data types, added date/time columns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657600"/>
            <a:ext cx="5486400" cy="2377440"/>
          </a:xfrm>
          <a:prstGeom prst="rect">
            <a:avLst/>
          </a:prstGeom>
          <a:solidFill>
            <a:srgbClr val="0D2147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657600"/>
            <a:ext cx="685800" cy="5486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657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494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389120" cy="36576"/>
          </a:xfrm>
          <a:prstGeom prst="rect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46634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Banking Dataset — 48K+ transactions, 25 columns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solidFill>
            <a:srgbClr val="11225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DAX Measures:  Total Transactions  |  Total Fraud Cases  |  Fraud Rate %  |  Fraud Amount  |  Legitimate Amount  |  High Risk Transactions  |  Total Customers  |  Total Locations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Visualizations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Total Transactions, Fraud Rate %, High Risk Transactions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96012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96012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051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Fraud Analysis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51760" y="228600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trends and fraud patterns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83480" y="96012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96012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051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🍩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Fraud Analysis, Risk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228600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vs Normal split (4.87%), Credit vs Debit distribution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60920" y="96012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60920" y="96012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1051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0664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Overview, Fraud Analysis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06640" y="228600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counts by type (ATM/Online/POS) and merchant category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38360" y="96012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738360" y="96012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38360" y="10515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84080" y="15544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Table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19202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Overview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784080" y="228600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 of total transactions and amounts by type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65760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65760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7432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4617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Overview, Financial Impact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4983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representation of amounts by merchant category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606040" y="365760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06040" y="365760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6040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💧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265176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Chart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651760" y="4617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51760" y="4983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cumulative amounts showing increase/decrease trends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83480" y="365760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83480" y="365760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02920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0" y="4617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Analysis, Geographic Analysis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29200" y="4983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map showing distribution across 11 global cities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60920" y="365760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360920" y="365760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40664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06640" y="4617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Overview, Customer Analysis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06640" y="4983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by merchant category and customers by card type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738360" y="3657600"/>
            <a:ext cx="22402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738360" y="3657600"/>
            <a:ext cx="224028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38360" y="37490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9784080" y="4251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784080" y="46177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Dashboard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784080" y="498348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vs successful transaction proportion by type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669280" cy="39319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"/>
            <a:ext cx="5669280" cy="3931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8600" y="4251960"/>
            <a:ext cx="5669280" cy="2423160"/>
          </a:xfrm>
          <a:prstGeom prst="rect">
            <a:avLst/>
          </a:prstGeom>
          <a:solidFill>
            <a:srgbClr val="0A1A36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28600" y="4251960"/>
            <a:ext cx="64008" cy="24231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84048" y="4343400"/>
            <a:ext cx="5394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7 interactive dashboard pages navigable via button links — covering fraud, financials, geography, and risk in one place.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63640" y="4251960"/>
            <a:ext cx="5669280" cy="2423160"/>
          </a:xfrm>
          <a:prstGeom prst="rect">
            <a:avLst/>
          </a:prstGeom>
          <a:solidFill>
            <a:srgbClr val="0A1A36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63640" y="4251960"/>
            <a:ext cx="64008" cy="2423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19088" y="4343400"/>
            <a:ext cx="5394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4.87% fraud rate across 49K transactions. 2K confirmed fraud cases carry a financial exposure of 11.82K out of 243K total.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0" y="6583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669280" cy="39319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"/>
            <a:ext cx="5669280" cy="3931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8600" y="4251960"/>
            <a:ext cx="5669280" cy="2423160"/>
          </a:xfrm>
          <a:prstGeom prst="rect">
            <a:avLst/>
          </a:prstGeom>
          <a:solidFill>
            <a:srgbClr val="0A1A36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28600" y="4251960"/>
            <a:ext cx="64008" cy="24231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84048" y="4343400"/>
            <a:ext cx="5394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Online, ATM, and POS channels each carry ~15.5K transactions with fraud nearly equal across all three at 0.8K each.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63640" y="4251960"/>
            <a:ext cx="5669280" cy="2423160"/>
          </a:xfrm>
          <a:prstGeom prst="rect">
            <a:avLst/>
          </a:prstGeom>
          <a:solidFill>
            <a:srgbClr val="0A1A36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63640" y="4251960"/>
            <a:ext cx="64008" cy="2423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19088" y="4343400"/>
            <a:ext cx="5394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Online leads fraud with 826 cases. Credit and debit cards are equally affected — 49.75% vs 50.25%.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0" y="6583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669280" cy="39319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"/>
            <a:ext cx="5669280" cy="3931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8600" y="4251960"/>
            <a:ext cx="5669280" cy="2423160"/>
          </a:xfrm>
          <a:prstGeom prst="rect">
            <a:avLst/>
          </a:prstGeom>
          <a:solidFill>
            <a:srgbClr val="0A1A36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28600" y="4251960"/>
            <a:ext cx="64008" cy="24231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84048" y="4343400"/>
            <a:ext cx="5394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Total amount grew steadily Jan–May reaching 243K. Fraud amount held flat at ~3K/month — fraud did not scale with volume.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63640" y="4251960"/>
            <a:ext cx="5669280" cy="2423160"/>
          </a:xfrm>
          <a:prstGeom prst="rect">
            <a:avLst/>
          </a:prstGeom>
          <a:solidFill>
            <a:srgbClr val="0A1A36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63640" y="4251960"/>
            <a:ext cx="64008" cy="2423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19088" y="4343400"/>
            <a:ext cx="5394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38K customers distributed evenly across 11 cities. Credit and debit card usage is nearly identical across all transaction types.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0" y="6583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2880"/>
            <a:ext cx="5669280" cy="393192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880"/>
            <a:ext cx="5669280" cy="3931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8600" y="4251960"/>
            <a:ext cx="5669280" cy="2423160"/>
          </a:xfrm>
          <a:prstGeom prst="rect">
            <a:avLst/>
          </a:prstGeom>
          <a:solidFill>
            <a:srgbClr val="0A1A36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28600" y="4251960"/>
            <a:ext cx="64008" cy="24231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84048" y="4343400"/>
            <a:ext cx="5394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49K transactions span 11 cities across 3 regions — London, Dubai, Bangkok, Kuala Lumpur, Singapore, and 6 Pakistani cities.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263640" y="4251960"/>
            <a:ext cx="5669280" cy="2423160"/>
          </a:xfrm>
          <a:prstGeom prst="rect">
            <a:avLst/>
          </a:prstGeom>
          <a:solidFill>
            <a:srgbClr val="0A1A36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63640" y="4251960"/>
            <a:ext cx="64008" cy="2423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19088" y="4343400"/>
            <a:ext cx="5394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32K failed attempts and 24K high-risk transactions out of 49K signal elevated fraud-attempt activity requiring monitoring.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0" y="65836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7033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703320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2471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4.87%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7465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112264"/>
            <a:ext cx="3200400" cy="36576"/>
          </a:xfrm>
          <a:prstGeom prst="rect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4028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49K total transactions, 2,368 were fraudulent — a significant rate requiring immediate attention.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78808" y="960120"/>
            <a:ext cx="37033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78808" y="960120"/>
            <a:ext cx="3703320" cy="914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12471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Online #1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15968" y="17465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Channel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15968" y="2112264"/>
            <a:ext cx="3200400" cy="36576"/>
          </a:xfrm>
          <a:prstGeom prst="rect">
            <a:avLst/>
          </a:prstGeom>
          <a:solidFill>
            <a:srgbClr val="00C2FF">
              <a:alpha val="35000"/>
            </a:srgbClr>
          </a:solidFill>
          <a:ln w="12700">
            <a:solidFill>
              <a:srgbClr val="00C2FF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224028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transactions recorded the highest fraud (826 cases), followed by ATM (779) and POS (762).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83296" y="960120"/>
            <a:ext cx="37033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3296" y="960120"/>
            <a:ext cx="3703320" cy="914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0456" y="112471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11.82K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0456" y="17465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Exposure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0456" y="2112264"/>
            <a:ext cx="3200400" cy="36576"/>
          </a:xfrm>
          <a:prstGeom prst="rect">
            <a:avLst/>
          </a:prstGeom>
          <a:solidFill>
            <a:srgbClr val="F2C811">
              <a:alpha val="35000"/>
            </a:srgbClr>
          </a:solidFill>
          <a:ln w="12700">
            <a:solidFill>
              <a:srgbClr val="F2C811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0456" y="224028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amount totals 11.82K against 231.40K legitimate — directly quantifying the monetary risk in the dataset.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37033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49040"/>
            <a:ext cx="370332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1363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24K Flagged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1480" y="45354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Transactions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4901184"/>
            <a:ext cx="3200400" cy="36576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502920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 transactions were flagged as high risk out of 49K — nearly 49% of the dataset carries elevated risk signals.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78808" y="3749040"/>
            <a:ext cx="37033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78808" y="3749040"/>
            <a:ext cx="3703320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91363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32K Failed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315968" y="45354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Transaction Attempts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15968" y="4901184"/>
            <a:ext cx="3200400" cy="36576"/>
          </a:xfrm>
          <a:prstGeom prst="rect">
            <a:avLst/>
          </a:prstGeom>
          <a:solidFill>
            <a:srgbClr val="E53E3E">
              <a:alpha val="35000"/>
            </a:srgbClr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502920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 failed attempts across 49K transactions indicate active fraud-probing behaviour in the dataset.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83296" y="3749040"/>
            <a:ext cx="370332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83296" y="3749040"/>
            <a:ext cx="370332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0456" y="391363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50 / 50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220456" y="45354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vs Debit Fraud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20456" y="4901184"/>
            <a:ext cx="3200400" cy="36576"/>
          </a:xfrm>
          <a:prstGeom prst="rect">
            <a:avLst/>
          </a:prstGeom>
          <a:solidFill>
            <a:srgbClr val="00A896">
              <a:alpha val="35000"/>
            </a:srgbClr>
          </a:solidFill>
          <a:ln w="12700">
            <a:solidFill>
              <a:srgbClr val="00A896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0456" y="5029200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equally split — Credit (49.75%) vs Debit (50.25%) — no card-type preference detected among fraudsters.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D3B6E">
              <a:alpha val="50000"/>
            </a:srgbClr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0789920" cy="777240"/>
          </a:xfrm>
          <a:prstGeom prst="rect">
            <a:avLst/>
          </a:prstGeom>
          <a:solidFill>
            <a:srgbClr val="0D2147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61288"/>
            <a:ext cx="10332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This Power BI dashboard successfully transforms raw banking transaction data into actionable fraud intelligence.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0789920" cy="777240"/>
          </a:xfrm>
          <a:prstGeom prst="rect">
            <a:avLst/>
          </a:prstGeom>
          <a:solidFill>
            <a:srgbClr val="0D2147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75688"/>
            <a:ext cx="10332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The 8-page interactive dashboard covers all aspects — executive KPIs, transaction analysis, financials, geography, and risk.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0789920" cy="777240"/>
          </a:xfrm>
          <a:prstGeom prst="rect">
            <a:avLst/>
          </a:prstGeom>
          <a:solidFill>
            <a:srgbClr val="0D2147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90088"/>
            <a:ext cx="10332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Key finding: 4.87% fraud rate with Online being the highest risk channel; 24K high-risk and 32K failed transactions detected.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0789920" cy="777240"/>
          </a:xfrm>
          <a:prstGeom prst="rect">
            <a:avLst/>
          </a:prstGeom>
          <a:solidFill>
            <a:srgbClr val="0D2147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04488"/>
            <a:ext cx="10332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 exposure quantified at 11.82K fraud amount — enabling prioritization of fraud prevention investment.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0789920" cy="777240"/>
          </a:xfrm>
          <a:prstGeom prst="rect">
            <a:avLst/>
          </a:prstGeom>
          <a:solidFill>
            <a:srgbClr val="0D2147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754880"/>
            <a:ext cx="73152" cy="7772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818888"/>
            <a:ext cx="10332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enhancements: real-time data streaming integration and machine learning fraud prediction models.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0" y="6016752"/>
            <a:ext cx="5760720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6062472"/>
            <a:ext cx="5760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 |   Prepared by Krishna SR  |  Data Analytics  |  Power BI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1031</Words>
  <Application>Microsoft Office PowerPoint</Application>
  <PresentationFormat>Widescreen</PresentationFormat>
  <Paragraphs>179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Transaction Fraud Analytics Dashboard</dc:title>
  <dc:subject>PptxGenJS Presentation</dc:subject>
  <dc:creator>Krishna SR</dc:creator>
  <cp:lastModifiedBy>KRISHNA SR</cp:lastModifiedBy>
  <cp:revision>4</cp:revision>
  <dcterms:created xsi:type="dcterms:W3CDTF">2026-05-02T16:26:19Z</dcterms:created>
  <dcterms:modified xsi:type="dcterms:W3CDTF">2026-05-02T17:06:27Z</dcterms:modified>
</cp:coreProperties>
</file>